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PimZwqwq8bB3Bq+Xrg7VzNNIR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2B2B2B"/>
                </a:solidFill>
                <a:latin typeface="Calibri"/>
              </a:rPr>
              <a:t>Annual Revenue (TZS '000)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(TZS '000)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D2E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363-6F44-B364-2BE8BE79D98E}"/>
              </c:ext>
            </c:extLst>
          </c:dPt>
          <c:dPt>
            <c:idx val="1"/>
            <c:invertIfNegative val="0"/>
            <c:bubble3D val="0"/>
            <c:spPr>
              <a:solidFill>
                <a:srgbClr val="6D2E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63-6F44-B364-2BE8BE79D98E}"/>
              </c:ext>
            </c:extLst>
          </c:dPt>
          <c:dPt>
            <c:idx val="2"/>
            <c:invertIfNegative val="0"/>
            <c:bubble3D val="0"/>
            <c:spPr>
              <a:solidFill>
                <a:srgbClr val="A267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363-6F44-B364-2BE8BE79D98E}"/>
              </c:ext>
            </c:extLst>
          </c:dPt>
          <c:dPt>
            <c:idx val="3"/>
            <c:invertIfNegative val="0"/>
            <c:bubble3D val="0"/>
            <c:spPr>
              <a:solidFill>
                <a:srgbClr val="B850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363-6F44-B364-2BE8BE79D98E}"/>
              </c:ext>
            </c:extLst>
          </c:dPt>
          <c:dPt>
            <c:idx val="4"/>
            <c:invertIfNegative val="0"/>
            <c:bubble3D val="0"/>
            <c:spPr>
              <a:solidFill>
                <a:srgbClr val="C9A8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363-6F44-B364-2BE8BE79D98E}"/>
              </c:ext>
            </c:extLst>
          </c:dPt>
          <c:dPt>
            <c:idx val="5"/>
            <c:invertIfNegative val="0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363-6F44-B364-2BE8BE79D98E}"/>
              </c:ext>
            </c:extLst>
          </c:dPt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251754</c:v>
                </c:pt>
                <c:pt idx="1">
                  <c:v>312822</c:v>
                </c:pt>
                <c:pt idx="2">
                  <c:v>173782</c:v>
                </c:pt>
                <c:pt idx="3">
                  <c:v>44674</c:v>
                </c:pt>
                <c:pt idx="4">
                  <c:v>93040</c:v>
                </c:pt>
                <c:pt idx="5">
                  <c:v>110565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363-6F44-B364-2BE8BE79D9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B5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8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B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D2E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A7D-3340-8FA5-11B3BD3105DD}"/>
              </c:ext>
            </c:extLst>
          </c:dPt>
          <c:dPt>
            <c:idx val="1"/>
            <c:bubble3D val="0"/>
            <c:spPr>
              <a:solidFill>
                <a:srgbClr val="C9A8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7D-3340-8FA5-11B3BD3105DD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A7D-3340-8FA5-11B3BD3105DD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7D-3340-8FA5-11B3BD3105D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B2B + Consultancy</c:v>
                </c:pt>
                <c:pt idx="1">
                  <c:v>Glory Pads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</c:v>
                </c:pt>
                <c:pt idx="1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A7D-3340-8FA5-11B3BD310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5ECE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D2E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697-9C40-B685-F6563BB8E4C9}"/>
              </c:ext>
            </c:extLst>
          </c:dPt>
          <c:dPt>
            <c:idx val="1"/>
            <c:bubble3D val="0"/>
            <c:spPr>
              <a:solidFill>
                <a:srgbClr val="C9A8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97-9C40-B685-F6563BB8E4C9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697-9C40-B685-F6563BB8E4C9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697-9C40-B685-F6563BB8E4C9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B2B + Consultancy</c:v>
                </c:pt>
                <c:pt idx="1">
                  <c:v>Glory Pads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697-9C40-B685-F6563BB8E4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5ECE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1E3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858000" y="-1371600"/>
            <a:ext cx="7315200" cy="7315200"/>
          </a:xfrm>
          <a:prstGeom prst="ellipse">
            <a:avLst/>
          </a:prstGeom>
          <a:solidFill>
            <a:srgbClr val="6D2E46">
              <a:alpha val="40000"/>
            </a:srgbClr>
          </a:solidFill>
          <a:ln cap="flat" cmpd="sng" w="12700">
            <a:solidFill>
              <a:srgbClr val="6D2E4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IB AGILITY LAB  ·  CASE STUDY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lang="en-US" sz="5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Reigniting Glory Pads: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22960" y="228600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5200"/>
              <a:buFont typeface="Georgia"/>
              <a:buNone/>
            </a:pPr>
            <a:r>
              <a:rPr i="1" lang="en-US" sz="52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A Commercial Recovery Plan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3291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for Kasole Secrets  —  Tanzania, 2026–2029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822960" y="3977640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2100"/>
              <a:buFont typeface="Georgia"/>
              <a:buNone/>
            </a:pPr>
            <a:r>
              <a:rPr i="1" lang="en-US" sz="21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"The unit economics never broke. Volume did."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6400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26769"/>
                </a:solidFill>
                <a:latin typeface="Calibri"/>
                <a:ea typeface="Calibri"/>
                <a:cs typeface="Calibri"/>
                <a:sym typeface="Calibri"/>
              </a:rPr>
              <a:t>IB Agility Lab 2026  ·  Round 1 Submission  ·  April 20,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CE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27432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The Crisis in Numbers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Revenue collapsed 56%. But the underlying business never broke — gross margin held at ~50% every single year.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" name="Google Shape;28;p2"/>
          <p:cNvGraphicFramePr/>
          <p:nvPr/>
        </p:nvGraphicFramePr>
        <p:xfrm>
          <a:off x="457200" y="1637509"/>
          <a:ext cx="7132320" cy="38404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9" name="Google Shape;29;p2"/>
          <p:cNvSpPr/>
          <p:nvPr/>
        </p:nvSpPr>
        <p:spPr>
          <a:xfrm>
            <a:off x="3054096" y="3146269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COVID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173191" y="3827497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Recovery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begins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955280" y="1280160"/>
            <a:ext cx="393192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955280" y="1280160"/>
            <a:ext cx="128016" cy="1600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229600" y="138988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2C5F2D"/>
                </a:solidFill>
                <a:latin typeface="Georgia"/>
                <a:ea typeface="Georgia"/>
                <a:cs typeface="Georgia"/>
                <a:sym typeface="Georgia"/>
              </a:rPr>
              <a:t>~50%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229600" y="20299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Gross margin held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229600" y="228600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Every year. 2019→2024.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The model works.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955280" y="3017520"/>
            <a:ext cx="393192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955280" y="3017520"/>
            <a:ext cx="128016" cy="16002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229600" y="312724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91%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229600" y="376732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Volume lost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229600" y="40233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109K packets → 10K.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Distribution collapsed.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955280" y="4754880"/>
            <a:ext cx="393192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955280" y="4754880"/>
            <a:ext cx="128016" cy="1600200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229600" y="486460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6D2E46"/>
                </a:solidFill>
                <a:latin typeface="Georgia"/>
                <a:ea typeface="Georgia"/>
                <a:cs typeface="Georgia"/>
                <a:sym typeface="Georgia"/>
              </a:rPr>
              <a:t>0.3%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229600" y="550468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Tanzania market share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229600" y="576072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$13.16M import market.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Massive room to grow.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6492240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Sources: Case financials 2019–2024; WITS 2023 Tanzania import data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CE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457200" y="27432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The Strategy: A Self-Funding Growth Flywheel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Consultancy and materials generate stable cash → Reinvest in Glory Pads → Education drives demand → Sales scale the mission.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1234440"/>
            <a:ext cx="3429000" cy="2240280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21792" y="1362456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FUND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21792" y="189280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B2B &amp; Consultancy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3"/>
          <p:cNvCxnSpPr/>
          <p:nvPr/>
        </p:nvCxnSpPr>
        <p:spPr>
          <a:xfrm>
            <a:off x="621792" y="2258568"/>
            <a:ext cx="306324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3"/>
          <p:cNvSpPr/>
          <p:nvPr/>
        </p:nvSpPr>
        <p:spPr>
          <a:xfrm>
            <a:off x="621792" y="2331720"/>
            <a:ext cx="3154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77% of revenue is stable — it funds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Glory Pads marketing &amp; recovery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160520" y="1234440"/>
            <a:ext cx="3429000" cy="22402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325112" y="1362456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SELL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325112" y="189280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Digital + Ambassadors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3"/>
          <p:cNvCxnSpPr/>
          <p:nvPr/>
        </p:nvCxnSpPr>
        <p:spPr>
          <a:xfrm>
            <a:off x="4325112" y="2258568"/>
            <a:ext cx="306324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3"/>
          <p:cNvSpPr/>
          <p:nvPr/>
        </p:nvSpPr>
        <p:spPr>
          <a:xfrm>
            <a:off x="4325112" y="2331720"/>
            <a:ext cx="3154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TikTok, bulk SMS, CRM + peer-to-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peer Ambassador rural network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160520" y="3657600"/>
            <a:ext cx="3429000" cy="2240280"/>
          </a:xfrm>
          <a:prstGeom prst="rect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325112" y="3785616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EDUCATE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325112" y="431596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Hedhi Salama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3"/>
          <p:cNvCxnSpPr/>
          <p:nvPr/>
        </p:nvCxnSpPr>
        <p:spPr>
          <a:xfrm>
            <a:off x="4325112" y="4681728"/>
            <a:ext cx="306324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3"/>
          <p:cNvSpPr/>
          <p:nvPr/>
        </p:nvSpPr>
        <p:spPr>
          <a:xfrm>
            <a:off x="4325112" y="4754880"/>
            <a:ext cx="3154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Education = demand: 500 cartons 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days (WARIDI 2018 pilot proof)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3657600"/>
            <a:ext cx="3429000" cy="2240280"/>
          </a:xfrm>
          <a:prstGeom prst="rect">
            <a:avLst/>
          </a:prstGeom>
          <a:solidFill>
            <a:srgbClr val="A26769"/>
          </a:solidFill>
          <a:ln cap="flat" cmpd="sng" w="127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21792" y="3785616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SCALE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21792" y="431596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Impact Capital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621792" y="4681728"/>
            <a:ext cx="306324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3"/>
          <p:cNvSpPr/>
          <p:nvPr/>
        </p:nvSpPr>
        <p:spPr>
          <a:xfrm>
            <a:off x="621792" y="4754880"/>
            <a:ext cx="3154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Grants → Equity → Trade Finance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traction is proven phase by phase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749040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257800" y="3291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↓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749040" y="5120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←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463040" y="3291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↑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686800" y="1417320"/>
            <a:ext cx="3246120" cy="4937760"/>
          </a:xfrm>
          <a:prstGeom prst="rect">
            <a:avLst/>
          </a:prstGeom>
          <a:solidFill>
            <a:srgbClr val="4A1E30"/>
          </a:solidFill>
          <a:ln cap="flat" cmpd="sng" w="12700">
            <a:solidFill>
              <a:srgbClr val="4A1E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686800" y="1417320"/>
            <a:ext cx="3246120" cy="109728"/>
          </a:xfrm>
          <a:prstGeom prst="rect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869680" y="16002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PROOF IT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869680" y="2011680"/>
            <a:ext cx="1280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4200"/>
              <a:buFont typeface="Georgia"/>
              <a:buNone/>
            </a:pPr>
            <a:r>
              <a:rPr b="1" lang="en-US" sz="42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500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0058400" y="22860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cartons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869680" y="2788920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sold in just 10 days during the 2018 WARIDI education pilot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= 3 months of normal sales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869680" y="3474720"/>
            <a:ext cx="1280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4200"/>
              <a:buFont typeface="Georgia"/>
              <a:buNone/>
            </a:pPr>
            <a:r>
              <a:rPr b="1" lang="en-US" sz="42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3×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0058400" y="37490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sales lift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869680" y="4251960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proven correlation between Hedhi Salama education programs and immediate product demand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869680" y="4937760"/>
            <a:ext cx="1280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4200"/>
              <a:buFont typeface="Georgia"/>
              <a:buNone/>
            </a:pPr>
            <a:r>
              <a:rPr b="1" lang="en-US" sz="42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$13M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0058400" y="52120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addressable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869680" y="5715000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Tanzania alone imports $13.16M of menstrual products yearly — Kasole holds only 0.3%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CE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457200" y="27432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Q1  ·  Build Internal Capacity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First: eliminate the credit-default trap. Then invest in digital and ambassadors to scale.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128016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THE DISTRIBUTION PROBLEM — AND THE FIX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57200" y="1645920"/>
            <a:ext cx="6858000" cy="32004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57200" y="1664208"/>
            <a:ext cx="6858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OLD MODEL  (caused the collapse)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48640" y="2057400"/>
            <a:ext cx="1463040" cy="822960"/>
          </a:xfrm>
          <a:prstGeom prst="rect">
            <a:avLst/>
          </a:prstGeom>
          <a:solidFill>
            <a:srgbClr val="A26769"/>
          </a:solidFill>
          <a:ln cap="flat" cmpd="sng" w="127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48640" y="210312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Produce &amp;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0" y="23774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2240280" y="2057400"/>
            <a:ext cx="1463040" cy="822960"/>
          </a:xfrm>
          <a:prstGeom prst="rect">
            <a:avLst/>
          </a:prstGeom>
          <a:solidFill>
            <a:srgbClr val="A26769"/>
          </a:solidFill>
          <a:ln cap="flat" cmpd="sng" w="127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240280" y="210312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Ship 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distributors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3320" y="23774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3931920" y="2057400"/>
            <a:ext cx="1463040" cy="822960"/>
          </a:xfrm>
          <a:prstGeom prst="rect">
            <a:avLst/>
          </a:prstGeom>
          <a:solidFill>
            <a:srgbClr val="A26769"/>
          </a:solidFill>
          <a:ln cap="flat" cmpd="sng" w="127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931920" y="210312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(on credit)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4960" y="23774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5623560" y="2057400"/>
            <a:ext cx="1463040" cy="82296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623560" y="210312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Default 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Cash crisis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57200" y="3108960"/>
            <a:ext cx="6858000" cy="32004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57200" y="3127248"/>
            <a:ext cx="6858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MODEL  (M-Pesa COD + Ambassador network)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48640" y="3520440"/>
            <a:ext cx="1463040" cy="82296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48640" y="356616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Produce &amp;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1680" y="38404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2240280" y="3520440"/>
            <a:ext cx="1463040" cy="82296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240280" y="356616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M-Pesa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 delivery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3320" y="38404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3931920" y="3520440"/>
            <a:ext cx="1463040" cy="82296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931920" y="356616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4960" y="38404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5623560" y="3520440"/>
            <a:ext cx="1463040" cy="822960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623560" y="356616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Restock &amp;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4572000"/>
            <a:ext cx="6858000" cy="1828800"/>
          </a:xfrm>
          <a:prstGeom prst="rect">
            <a:avLst/>
          </a:prstGeom>
          <a:solidFill>
            <a:srgbClr val="4A1E30"/>
          </a:solidFill>
          <a:ln cap="flat" cmpd="sng" w="12700">
            <a:solidFill>
              <a:srgbClr val="4A1E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40080" y="4663440"/>
            <a:ext cx="6492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THE AMBASSADOR MODEL  (CEO's own recommendation for rural distribution)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7280" y="50292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731520" y="5486400"/>
            <a:ext cx="1508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Ambassadors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0280" y="5212080"/>
            <a:ext cx="164592" cy="164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88920" y="50292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/>
          <p:nvPr/>
        </p:nvSpPr>
        <p:spPr>
          <a:xfrm>
            <a:off x="2423160" y="5486400"/>
            <a:ext cx="1508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Identify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women's groups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920" y="5212080"/>
            <a:ext cx="164592" cy="164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80560" y="50292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4114800" y="5486400"/>
            <a:ext cx="1508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Peer-to-peer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sales + education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3560" y="5212080"/>
            <a:ext cx="164592" cy="164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72200" y="50292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5806440" y="5486400"/>
            <a:ext cx="1508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Products move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from shelves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680960" y="128016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DIGITAL CHANNEL INVESTMENT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7680960" y="1645920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680960" y="1645920"/>
            <a:ext cx="109728" cy="1143000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45552" y="19385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/>
          <p:nvPr/>
        </p:nvSpPr>
        <p:spPr>
          <a:xfrm>
            <a:off x="8321040" y="175564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Social Media &amp; TikTok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8321040" y="210312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Ambassadors + sponsored ads. CEO already uses this — needs investment to scale.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7680960" y="2880360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680960" y="2880360"/>
            <a:ext cx="109728" cy="1143000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45552" y="31729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/>
          <p:nvPr/>
        </p:nvSpPr>
        <p:spPr>
          <a:xfrm>
            <a:off x="8321040" y="299008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Bulk SMS Campaigns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8321040" y="333756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CEO already texts her entire customer list 2× a month. Formalize with CRM.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7680960" y="4114800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680960" y="4114800"/>
            <a:ext cx="109728" cy="1143000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5552" y="440740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"/>
          <p:cNvSpPr/>
          <p:nvPr/>
        </p:nvSpPr>
        <p:spPr>
          <a:xfrm>
            <a:off x="8321040" y="422452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E-Commerce Storefront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8321040" y="457200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Shopify/WooCommerce for urban diaspora and institutional buyers.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7680960" y="5349240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7680960" y="5349240"/>
            <a:ext cx="109728" cy="1143000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45552" y="564184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4"/>
          <p:cNvSpPr/>
          <p:nvPr/>
        </p:nvSpPr>
        <p:spPr>
          <a:xfrm>
            <a:off x="8321040" y="545896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CRM System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8321040" y="580644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Track all institutional and B2B leads. Convert consultancy contacts into sales pipeline.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CE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/>
          <p:nvPr/>
        </p:nvSpPr>
        <p:spPr>
          <a:xfrm>
            <a:off x="457200" y="27432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Q2  ·  Financing &amp; Working Capital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Use the stable B2B engine to fund Glory Pads recovery. Then layer in impact capital to scale.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57200" y="12801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6" name="Google Shape;166;p5"/>
          <p:cNvGraphicFramePr/>
          <p:nvPr/>
        </p:nvGraphicFramePr>
        <p:xfrm>
          <a:off x="274320" y="1600200"/>
          <a:ext cx="3566160" cy="32004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67" name="Google Shape;167;p5"/>
          <p:cNvSpPr/>
          <p:nvPr/>
        </p:nvSpPr>
        <p:spPr>
          <a:xfrm>
            <a:off x="1463040" y="28346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6D2E46"/>
                </a:solidFill>
                <a:latin typeface="Georgia"/>
                <a:ea typeface="Georgia"/>
                <a:cs typeface="Georgia"/>
                <a:sym typeface="Georgia"/>
              </a:rPr>
              <a:t>2024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023360" y="1280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3-YEAR TARGET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5"/>
          <p:cNvGraphicFramePr/>
          <p:nvPr/>
        </p:nvGraphicFramePr>
        <p:xfrm>
          <a:off x="3840480" y="1600200"/>
          <a:ext cx="3566160" cy="320040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70" name="Google Shape;170;p5"/>
          <p:cNvSpPr/>
          <p:nvPr/>
        </p:nvSpPr>
        <p:spPr>
          <a:xfrm>
            <a:off x="5029200" y="28346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2C5F2D"/>
                </a:solidFill>
                <a:latin typeface="Georgia"/>
                <a:ea typeface="Georgia"/>
                <a:cs typeface="Georgia"/>
                <a:sym typeface="Georgia"/>
              </a:rPr>
              <a:t>2028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5"/>
          <p:cNvCxnSpPr/>
          <p:nvPr/>
        </p:nvCxnSpPr>
        <p:spPr>
          <a:xfrm>
            <a:off x="3886200" y="3200400"/>
            <a:ext cx="0" cy="0"/>
          </a:xfrm>
          <a:prstGeom prst="straightConnector1">
            <a:avLst/>
          </a:prstGeom>
          <a:noFill/>
          <a:ln cap="flat" cmpd="sng" w="12700">
            <a:solidFill>
              <a:srgbClr val="4A1E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5"/>
          <p:cNvSpPr/>
          <p:nvPr/>
        </p:nvSpPr>
        <p:spPr>
          <a:xfrm>
            <a:off x="3520440" y="29718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6D2E46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57200" y="4983480"/>
            <a:ext cx="7040880" cy="1645920"/>
          </a:xfrm>
          <a:prstGeom prst="rect">
            <a:avLst/>
          </a:prstGeom>
          <a:solidFill>
            <a:srgbClr val="4A1E30"/>
          </a:solidFill>
          <a:ln cap="flat" cmpd="sng" w="12700">
            <a:solidFill>
              <a:srgbClr val="4A1E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40080" y="5120640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WORKING CAPITAL REFORM — THE THREE NON-NEGOTIABLES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85800" y="5440680"/>
            <a:ext cx="384048" cy="384048"/>
          </a:xfrm>
          <a:prstGeom prst="ellipse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85800" y="54589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1115568" y="54132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distributor credit.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1115568" y="5705856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M-Pesa COD replaces credit. Credit defaults killed cash in 2022.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2880360" y="5440680"/>
            <a:ext cx="384048" cy="384048"/>
          </a:xfrm>
          <a:prstGeom prst="ellipse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2880360" y="54589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310128" y="54132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3-month buffer.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310128" y="5705856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Non-negotiable minimum. COVID proved the danger without one.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074920" y="5440680"/>
            <a:ext cx="384048" cy="384048"/>
          </a:xfrm>
          <a:prstGeom prst="ellipse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5074920" y="54589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5504688" y="54132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Invoice factoring.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504688" y="5705856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Factor UNICEF/Ministry receivables to free working capital.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680960" y="128016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THE CAPITAL STACK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7680960" y="1691640"/>
            <a:ext cx="4023360" cy="1371600"/>
          </a:xfrm>
          <a:prstGeom prst="rect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7863840" y="176479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A1E30"/>
                </a:solidFill>
                <a:latin typeface="Calibri"/>
                <a:ea typeface="Calibri"/>
                <a:cs typeface="Calibri"/>
                <a:sym typeface="Calibri"/>
              </a:rPr>
              <a:t>GRANTS  ·  Year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7863840" y="203911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2200"/>
              <a:buFont typeface="Georgia"/>
              <a:buNone/>
            </a:pPr>
            <a:r>
              <a:rPr b="1" i="1" lang="en-US" sz="22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$150–300K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7863840" y="244144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1E30"/>
                </a:solidFill>
                <a:latin typeface="Calibri"/>
                <a:ea typeface="Calibri"/>
                <a:cs typeface="Calibri"/>
                <a:sym typeface="Calibri"/>
              </a:rPr>
              <a:t>USADF · Mastercard Foundation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1E30"/>
                </a:solidFill>
                <a:latin typeface="Calibri"/>
                <a:ea typeface="Calibri"/>
                <a:cs typeface="Calibri"/>
                <a:sym typeface="Calibri"/>
              </a:rPr>
              <a:t>Global Affairs Canada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1E30"/>
                </a:solidFill>
                <a:latin typeface="Calibri"/>
                <a:ea typeface="Calibri"/>
                <a:cs typeface="Calibri"/>
                <a:sym typeface="Calibri"/>
              </a:rPr>
              <a:t>The Case for Her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7680960" y="3200400"/>
            <a:ext cx="3383280" cy="1371600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7863840" y="327355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 EQUITY  ·  Year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7863840" y="354787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$300–500K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7863840" y="395020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Acumen · Alitheia IDF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AlphaMundi · MEDA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7680960" y="4709160"/>
            <a:ext cx="2834640" cy="13716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7863840" y="47823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TRADE FINANCE  ·  Year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7863840" y="5056632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$100–200K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7863840" y="5458968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CRDB Bank SME · AfDB AFAWA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CE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/>
          <p:nvPr/>
        </p:nvSpPr>
        <p:spPr>
          <a:xfrm>
            <a:off x="457200" y="27432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Q3  ·  Manufacturing: Hybrid Approach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Keep China for quality. Add local assembly to cut cost and create resilience.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65760" y="1554480"/>
            <a:ext cx="2560320" cy="2743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65760" y="1554480"/>
            <a:ext cx="2560320" cy="640080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365760" y="166420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CHINA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02920" y="23317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Bamboo fiber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manufacture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6"/>
          <p:cNvCxnSpPr/>
          <p:nvPr/>
        </p:nvCxnSpPr>
        <p:spPr>
          <a:xfrm>
            <a:off x="594360" y="3246120"/>
            <a:ext cx="2103120" cy="0"/>
          </a:xfrm>
          <a:prstGeom prst="straightConnector1">
            <a:avLst/>
          </a:prstGeom>
          <a:noFill/>
          <a:ln cap="flat" cmpd="sng" w="9525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6"/>
          <p:cNvSpPr/>
          <p:nvPr/>
        </p:nvSpPr>
        <p:spPr>
          <a:xfrm>
            <a:off x="502920" y="33375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Premium Glory Pads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keep quality advantage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2926080" y="2560320"/>
            <a:ext cx="640080" cy="548640"/>
          </a:xfrm>
          <a:prstGeom prst="rect">
            <a:avLst/>
          </a:prstGeom>
          <a:solidFill>
            <a:srgbClr val="E8D8C2"/>
          </a:solidFill>
          <a:ln cap="flat" cmpd="sng" w="12700">
            <a:solidFill>
              <a:srgbClr val="E8D8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2944368" y="2578608"/>
            <a:ext cx="60350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6D2E46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200400" y="1554480"/>
            <a:ext cx="2560320" cy="2743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200400" y="1554480"/>
            <a:ext cx="256032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200400" y="166420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TANZANIA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337560" y="23317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Local assembly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&amp; packaging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6"/>
          <p:cNvCxnSpPr/>
          <p:nvPr/>
        </p:nvCxnSpPr>
        <p:spPr>
          <a:xfrm>
            <a:off x="3429000" y="3246120"/>
            <a:ext cx="2103120" cy="0"/>
          </a:xfrm>
          <a:prstGeom prst="straightConnector1">
            <a:avLst/>
          </a:prstGeom>
          <a:noFill/>
          <a:ln cap="flat" cmpd="sng" w="9525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6"/>
          <p:cNvSpPr/>
          <p:nvPr/>
        </p:nvSpPr>
        <p:spPr>
          <a:xfrm>
            <a:off x="3337560" y="33375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Reusable pads +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Glory Pads packaging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5760720" y="2560320"/>
            <a:ext cx="640080" cy="548640"/>
          </a:xfrm>
          <a:prstGeom prst="rect">
            <a:avLst/>
          </a:prstGeom>
          <a:solidFill>
            <a:srgbClr val="E8D8C2"/>
          </a:solidFill>
          <a:ln cap="flat" cmpd="sng" w="12700">
            <a:solidFill>
              <a:srgbClr val="E8D8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779008" y="2578608"/>
            <a:ext cx="60350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6D2E46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035040" y="1554480"/>
            <a:ext cx="2560320" cy="2743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035040" y="1554480"/>
            <a:ext cx="2560320" cy="640080"/>
          </a:xfrm>
          <a:prstGeom prst="rect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035040" y="166420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EAST AFRICA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172200" y="23317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Distribution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hub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/>
          <p:nvPr/>
        </p:nvCxnSpPr>
        <p:spPr>
          <a:xfrm>
            <a:off x="6263640" y="3246120"/>
            <a:ext cx="2103120" cy="0"/>
          </a:xfrm>
          <a:prstGeom prst="straightConnector1">
            <a:avLst/>
          </a:prstGeom>
          <a:noFill/>
          <a:ln cap="flat" cmpd="sng" w="9525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/>
          <p:nvPr/>
        </p:nvSpPr>
        <p:spPr>
          <a:xfrm>
            <a:off x="6172200" y="33375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AfCFTA regional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8595360" y="2560320"/>
            <a:ext cx="640080" cy="548640"/>
          </a:xfrm>
          <a:prstGeom prst="rect">
            <a:avLst/>
          </a:prstGeom>
          <a:solidFill>
            <a:srgbClr val="E8D8C2"/>
          </a:solidFill>
          <a:ln cap="flat" cmpd="sng" w="12700">
            <a:solidFill>
              <a:srgbClr val="E8D8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8613648" y="2578608"/>
            <a:ext cx="60350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6D2E46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8869680" y="1554480"/>
            <a:ext cx="2560320" cy="2743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8869680" y="1554480"/>
            <a:ext cx="2560320" cy="640080"/>
          </a:xfrm>
          <a:prstGeom prst="rect">
            <a:avLst/>
          </a:prstGeom>
          <a:solidFill>
            <a:srgbClr val="A26769"/>
          </a:solidFill>
          <a:ln cap="flat" cmpd="sng" w="127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8869680" y="166420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CONSUMERS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9006840" y="23317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Urban retail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&amp; rural ambassador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6"/>
          <p:cNvCxnSpPr/>
          <p:nvPr/>
        </p:nvCxnSpPr>
        <p:spPr>
          <a:xfrm>
            <a:off x="9098280" y="3246120"/>
            <a:ext cx="2103120" cy="0"/>
          </a:xfrm>
          <a:prstGeom prst="straightConnector1">
            <a:avLst/>
          </a:prstGeom>
          <a:noFill/>
          <a:ln cap="flat" cmpd="sng" w="9525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6"/>
          <p:cNvSpPr/>
          <p:nvPr/>
        </p:nvSpPr>
        <p:spPr>
          <a:xfrm>
            <a:off x="9006840" y="33375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All three tiers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served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57200" y="457200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WHY THIS HYBRID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457200" y="493776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Quality Protection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2834640" y="4983480"/>
            <a:ext cx="6858000" cy="256032"/>
          </a:xfrm>
          <a:prstGeom prst="rect">
            <a:avLst/>
          </a:prstGeom>
          <a:solidFill>
            <a:srgbClr val="E8D8C2"/>
          </a:solidFill>
          <a:ln cap="flat" cmpd="sng" w="12700">
            <a:solidFill>
              <a:srgbClr val="E8D8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2834640" y="4983480"/>
            <a:ext cx="6172200" cy="256032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9966960" y="493776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Bamboo fiber from China keeps the core USP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57200" y="534924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Cost Reduction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2834640" y="5394960"/>
            <a:ext cx="6858000" cy="256032"/>
          </a:xfrm>
          <a:prstGeom prst="rect">
            <a:avLst/>
          </a:prstGeom>
          <a:solidFill>
            <a:srgbClr val="E8D8C2"/>
          </a:solidFill>
          <a:ln cap="flat" cmpd="sng" w="12700">
            <a:solidFill>
              <a:srgbClr val="E8D8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2834640" y="5394960"/>
            <a:ext cx="4457700" cy="25603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9966960" y="53492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Local assembly cuts shipping volume ~30–40%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57200" y="576072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Resilience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2834640" y="5806440"/>
            <a:ext cx="6858000" cy="256032"/>
          </a:xfrm>
          <a:prstGeom prst="rect">
            <a:avLst/>
          </a:prstGeom>
          <a:solidFill>
            <a:srgbClr val="E8D8C2"/>
          </a:solidFill>
          <a:ln cap="flat" cmpd="sng" w="12700">
            <a:solidFill>
              <a:srgbClr val="E8D8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2834640" y="5806440"/>
            <a:ext cx="5143500" cy="256032"/>
          </a:xfrm>
          <a:prstGeom prst="rect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9966960" y="57607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Partial local = less exposure to China supply shocks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457200" y="617220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AfCFTA Leverage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2834640" y="6217920"/>
            <a:ext cx="6858000" cy="256032"/>
          </a:xfrm>
          <a:prstGeom prst="rect">
            <a:avLst/>
          </a:prstGeom>
          <a:solidFill>
            <a:srgbClr val="E8D8C2"/>
          </a:solidFill>
          <a:ln cap="flat" cmpd="sng" w="12700">
            <a:solidFill>
              <a:srgbClr val="E8D8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2834640" y="6217920"/>
            <a:ext cx="5486400" cy="256032"/>
          </a:xfrm>
          <a:prstGeom prst="rect">
            <a:avLst/>
          </a:prstGeom>
          <a:solidFill>
            <a:srgbClr val="A26769"/>
          </a:solidFill>
          <a:ln cap="flat" cmpd="sng" w="127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9966960" y="617220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Local origin qualifies for reduced intra-African tariffs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CE0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"/>
          <p:cNvSpPr/>
          <p:nvPr/>
        </p:nvSpPr>
        <p:spPr>
          <a:xfrm>
            <a:off x="457200" y="27432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Q4  ·  Regional Expansion: South Africa First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"In South Africa, once you're in one supermarket, you're in different regions."  — Hyasintha Ntuyeko, Founder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1246523" y="1097280"/>
            <a:ext cx="5029200" cy="5486400"/>
          </a:xfrm>
          <a:prstGeom prst="ellipse">
            <a:avLst/>
          </a:prstGeom>
          <a:solidFill>
            <a:srgbClr val="E8D8C2"/>
          </a:solidFill>
          <a:ln cap="flat" cmpd="sng" w="19050">
            <a:solidFill>
              <a:srgbClr val="7A6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612283" y="11887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AFRICA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121043" y="2788920"/>
            <a:ext cx="1005840" cy="1005840"/>
          </a:xfrm>
          <a:prstGeom prst="ellipse">
            <a:avLst/>
          </a:prstGeom>
          <a:solidFill>
            <a:srgbClr val="6D2E46"/>
          </a:solidFill>
          <a:ln cap="flat" cmpd="sng" w="381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121043" y="306324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TANZANIA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(Home)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1886603" y="4663440"/>
            <a:ext cx="1280160" cy="1280160"/>
          </a:xfrm>
          <a:prstGeom prst="ellipse">
            <a:avLst/>
          </a:prstGeom>
          <a:solidFill>
            <a:srgbClr val="C9A85C"/>
          </a:solidFill>
          <a:ln cap="flat" cmpd="sng" w="1905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1886603" y="507492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AFRICA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3395363" y="2240280"/>
            <a:ext cx="822960" cy="822960"/>
          </a:xfrm>
          <a:prstGeom prst="ellipse">
            <a:avLst/>
          </a:prstGeom>
          <a:solidFill>
            <a:srgbClr val="2C5F2D"/>
          </a:solidFill>
          <a:ln cap="flat" cmpd="sng" w="1905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395363" y="242316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KENYA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2892443" y="4023360"/>
            <a:ext cx="731520" cy="731520"/>
          </a:xfrm>
          <a:prstGeom prst="ellipse">
            <a:avLst/>
          </a:prstGeom>
          <a:solidFill>
            <a:srgbClr val="2C5F2D"/>
          </a:solidFill>
          <a:ln cap="flat" cmpd="sng" w="1905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2892443" y="41605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MALAWI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1978043" y="3017520"/>
            <a:ext cx="731520" cy="731520"/>
          </a:xfrm>
          <a:prstGeom prst="ellipse">
            <a:avLst/>
          </a:prstGeom>
          <a:solidFill>
            <a:srgbClr val="A26769">
              <a:alpha val="60000"/>
            </a:srgbClr>
          </a:solidFill>
          <a:ln cap="flat" cmpd="sng" w="1905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1978043" y="31546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DRC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2428413" y="3886200"/>
            <a:ext cx="640080" cy="640080"/>
          </a:xfrm>
          <a:prstGeom prst="ellipse">
            <a:avLst/>
          </a:prstGeom>
          <a:solidFill>
            <a:srgbClr val="A26769">
              <a:alpha val="60000"/>
            </a:srgbClr>
          </a:solidFill>
          <a:ln cap="flat" cmpd="sng" w="1905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2428413" y="39776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ZAMBIA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02336" y="1175004"/>
            <a:ext cx="228600" cy="228600"/>
          </a:xfrm>
          <a:prstGeom prst="ellipse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676656" y="117500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Home market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02336" y="1522476"/>
            <a:ext cx="228600" cy="228600"/>
          </a:xfrm>
          <a:prstGeom prst="ellipse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676656" y="152247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Phase 1  ·  2026–27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02336" y="1869948"/>
            <a:ext cx="228600" cy="228600"/>
          </a:xfrm>
          <a:prstGeom prst="ellipse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76656" y="18699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Phase 2  ·  2027–28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402336" y="2217420"/>
            <a:ext cx="228600" cy="228600"/>
          </a:xfrm>
          <a:prstGeom prst="ellipse">
            <a:avLst/>
          </a:prstGeom>
          <a:solidFill>
            <a:srgbClr val="A26769"/>
          </a:solidFill>
          <a:ln cap="flat" cmpd="sng" w="127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76656" y="22174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Phase 3  ·  2029+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6400800" y="1188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PHASED MARKET ENTRY STRATEGY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6400800" y="1600200"/>
            <a:ext cx="54864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400800" y="1600200"/>
            <a:ext cx="128016" cy="1554480"/>
          </a:xfrm>
          <a:prstGeom prst="rect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6400800" y="1600200"/>
            <a:ext cx="5486400" cy="566928"/>
          </a:xfrm>
          <a:prstGeom prst="rect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7" name="Google Shape;2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6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7"/>
          <p:cNvSpPr/>
          <p:nvPr/>
        </p:nvSpPr>
        <p:spPr>
          <a:xfrm>
            <a:off x="6995160" y="164592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A1E30"/>
                </a:solidFill>
                <a:latin typeface="Calibri"/>
                <a:ea typeface="Calibri"/>
                <a:cs typeface="Calibri"/>
                <a:sym typeface="Calibri"/>
              </a:rPr>
              <a:t>Phase 1  ·  2026–27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6995160" y="187452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South Africa — The Model Market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6583680" y="22585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▪  Corporate retail = 1 conversation → nationwide distribution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6583680" y="25328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▪  CEO already has product presence and relationships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6583680" y="280720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▪  Strongest MHH social enterprise ecosystem in Africa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400800" y="3291840"/>
            <a:ext cx="54864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6400800" y="3291840"/>
            <a:ext cx="128016" cy="15544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6400800" y="3291840"/>
            <a:ext cx="5486400" cy="566928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60" y="3383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7"/>
          <p:cNvSpPr/>
          <p:nvPr/>
        </p:nvSpPr>
        <p:spPr>
          <a:xfrm>
            <a:off x="6995160" y="333756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 ·  2027–28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6995160" y="356616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Kenya + Malawi — Anchor the Region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583680" y="395020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▪  Kenya: diaspora anchor + existing MHH partner 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6583680" y="422452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▪  Malawi: CEO's existing contacts, AfCFTA advantages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6583680" y="44988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▪  Ambassador model proven from Tanzania → replicate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6400800" y="4983480"/>
            <a:ext cx="54864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6400800" y="4983480"/>
            <a:ext cx="128016" cy="1554480"/>
          </a:xfrm>
          <a:prstGeom prst="rect">
            <a:avLst/>
          </a:prstGeom>
          <a:solidFill>
            <a:srgbClr val="A26769"/>
          </a:solidFill>
          <a:ln cap="flat" cmpd="sng" w="127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6400800" y="4983480"/>
            <a:ext cx="5486400" cy="566928"/>
          </a:xfrm>
          <a:prstGeom prst="rect">
            <a:avLst/>
          </a:prstGeom>
          <a:solidFill>
            <a:srgbClr val="A26769"/>
          </a:solidFill>
          <a:ln cap="flat" cmpd="sng" w="127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5" name="Google Shape;30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7960" y="5074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7"/>
          <p:cNvSpPr/>
          <p:nvPr/>
        </p:nvSpPr>
        <p:spPr>
          <a:xfrm>
            <a:off x="6995160" y="502920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  ·  2029+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6995160" y="525780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DRC + Zambia — Scale the Continent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6583680" y="56418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▪  DRC: vast underserved market, early contacts established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6583680" y="59161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▪  Social-franchise model: license the playbook + supply materials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6583680" y="61904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▪  AfCFTA regional hub position secured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CE0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"/>
          <p:cNvSpPr/>
          <p:nvPr/>
        </p:nvSpPr>
        <p:spPr>
          <a:xfrm>
            <a:off x="457200" y="27432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Q5  ·  Reaching Every Woman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Premium funds the mission. Essentials reach the middle. Ambassadors and school programs serve those with least.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2103120" y="1371600"/>
            <a:ext cx="2743200" cy="1097280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2103120" y="141732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TIER 1 · PREMIUM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2103120" y="171907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i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Glory Pads Bamboo · TZS 3,000+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2103120" y="20299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Urban + diaspora · Full-price · Cross-subsidizes below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1371600" y="2606040"/>
            <a:ext cx="4206240" cy="1097280"/>
          </a:xfrm>
          <a:prstGeom prst="rect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1371600" y="26517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A1E30"/>
                </a:solidFill>
                <a:latin typeface="Calibri"/>
                <a:ea typeface="Calibri"/>
                <a:cs typeface="Calibri"/>
                <a:sym typeface="Calibri"/>
              </a:rPr>
              <a:t>TIER 2 · ESSENTIALS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1371600" y="29443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1200"/>
              <a:buFont typeface="Georgia"/>
              <a:buNone/>
            </a:pPr>
            <a:r>
              <a:rPr i="1" lang="en-US" sz="12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Reusable kits · TZS 11–13K (2-year life)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1371600" y="3264408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1E30"/>
                </a:solidFill>
                <a:latin typeface="Calibri"/>
                <a:ea typeface="Calibri"/>
                <a:cs typeface="Calibri"/>
                <a:sym typeface="Calibri"/>
              </a:rPr>
              <a:t>Semi-urban + peri-urban · ~TZS 500/mo amortized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457200" y="3840480"/>
            <a:ext cx="6035040" cy="10972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457200" y="388620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TIER 3 · COMMUNITY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457200" y="4178808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i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B2G · B2NGO · Ambassador micro-consignment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57200" y="4498848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Rural + underserved · Free or subsidized to end-user · 60–70% of schoolgirls unreached today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0" name="Google Shape;330;p8"/>
          <p:cNvGrpSpPr/>
          <p:nvPr/>
        </p:nvGrpSpPr>
        <p:grpSpPr>
          <a:xfrm>
            <a:off x="457200" y="5074920"/>
            <a:ext cx="6035040" cy="1554480"/>
            <a:chOff x="457200" y="5074920"/>
            <a:chExt cx="6035040" cy="1554480"/>
          </a:xfrm>
        </p:grpSpPr>
        <p:sp>
          <p:nvSpPr>
            <p:cNvPr id="331" name="Google Shape;331;p8"/>
            <p:cNvSpPr/>
            <p:nvPr/>
          </p:nvSpPr>
          <p:spPr>
            <a:xfrm>
              <a:off x="457200" y="5074920"/>
              <a:ext cx="6035040" cy="1554480"/>
            </a:xfrm>
            <a:prstGeom prst="rect">
              <a:avLst/>
            </a:prstGeom>
            <a:solidFill>
              <a:srgbClr val="4A1E30"/>
            </a:solidFill>
            <a:ln cap="flat" cmpd="sng" w="12700">
              <a:solidFill>
                <a:srgbClr val="4A1E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640080" y="5166360"/>
              <a:ext cx="56692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A85C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C9A85C"/>
                  </a:solidFill>
                  <a:latin typeface="Calibri"/>
                  <a:ea typeface="Calibri"/>
                  <a:cs typeface="Calibri"/>
                  <a:sym typeface="Calibri"/>
                </a:rPr>
                <a:t>THE AFFORDABILITY MATH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640080" y="5486400"/>
              <a:ext cx="566928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5ECE0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F5ECE0"/>
                  </a:solidFill>
                  <a:latin typeface="Calibri"/>
                  <a:ea typeface="Calibri"/>
                  <a:cs typeface="Calibri"/>
                  <a:sym typeface="Calibri"/>
                </a:rPr>
                <a:t>▪  Disposable pads: TZS 30,000/year per rural student (World Bank 2024)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640080" y="5852160"/>
              <a:ext cx="566928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5ECE0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F5ECE0"/>
                  </a:solidFill>
                  <a:latin typeface="Calibri"/>
                  <a:ea typeface="Calibri"/>
                  <a:cs typeface="Calibri"/>
                  <a:sym typeface="Calibri"/>
                </a:rPr>
                <a:t>▪  Reusable kit: TZS 11–13K up-front  →  ~TZS 500/mo amortized over 2 years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640080" y="6217920"/>
              <a:ext cx="566928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5ECE0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F5ECE0"/>
                  </a:solidFill>
                  <a:latin typeface="Calibri"/>
                  <a:ea typeface="Calibri"/>
                  <a:cs typeface="Calibri"/>
                  <a:sym typeface="Calibri"/>
                </a:rPr>
                <a:t>▪  Savings: up to 60% vs. disposables — affordable even at TZS 800/mo income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8"/>
          <p:cNvSpPr/>
          <p:nvPr/>
        </p:nvSpPr>
        <p:spPr>
          <a:xfrm>
            <a:off x="6858000" y="13716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TWO HIGH-IMPACT INNOVATIONS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6858000" y="1737360"/>
            <a:ext cx="5029200" cy="2468880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6858000" y="1737360"/>
            <a:ext cx="5029200" cy="109728"/>
          </a:xfrm>
          <a:prstGeom prst="rect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1920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8"/>
          <p:cNvSpPr/>
          <p:nvPr/>
        </p:nvSpPr>
        <p:spPr>
          <a:xfrm>
            <a:off x="7498080" y="192024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Revive the School Supply Program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7040880" y="242316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CEO ran this before COVID — schools receive subsidized products.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7040880" y="274320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Model: Students who can afford pay; those who can't receive from emergency fund. Schools become distribution points + Hedhi Salama education venues.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7040880" y="32461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Impact: Reach the 60–70% of rural girls currently without reliable products.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6858000" y="4343400"/>
            <a:ext cx="5029200" cy="22860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6858000" y="4343400"/>
            <a:ext cx="5029200" cy="109728"/>
          </a:xfrm>
          <a:prstGeom prst="rect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6" name="Google Shape;34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5160" y="4526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8"/>
          <p:cNvSpPr/>
          <p:nvPr/>
        </p:nvSpPr>
        <p:spPr>
          <a:xfrm>
            <a:off x="7498080" y="452628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Male Allyship as a Sales Driver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7040880" y="50292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Men often control household budgets in rural Tanzania.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7040880" y="5349240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Hedhi Salama already educates boys and men. When men understand menstrual health, they approve household budgets for quality products — removing the 'gatekeeper barrier.'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7040880" y="59893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1000"/>
              <a:buFont typeface="Calibri"/>
              <a:buNone/>
            </a:pPr>
            <a:r>
              <a:rPr b="1" i="1" lang="en-US" sz="1000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This isn't just social work — it's demand creation.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CE0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9"/>
          <p:cNvSpPr/>
          <p:nvPr/>
        </p:nvSpPr>
        <p:spPr>
          <a:xfrm>
            <a:off x="457200" y="27432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E30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4A1E30"/>
                </a:solidFill>
                <a:latin typeface="Georgia"/>
                <a:ea typeface="Georgia"/>
                <a:cs typeface="Georgia"/>
                <a:sym typeface="Georgia"/>
              </a:rPr>
              <a:t>3-Year Recovery Roadmap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5D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7A6B5D"/>
                </a:solidFill>
                <a:latin typeface="Calibri"/>
                <a:ea typeface="Calibri"/>
                <a:cs typeface="Calibri"/>
                <a:sym typeface="Calibri"/>
              </a:rPr>
              <a:t>Three phases. Each builds on the one before. Each unlocked by a concrete milestone.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640080" y="2697480"/>
            <a:ext cx="10881360" cy="109728"/>
          </a:xfrm>
          <a:prstGeom prst="rect">
            <a:avLst/>
          </a:prstGeom>
          <a:solidFill>
            <a:srgbClr val="A26769"/>
          </a:solidFill>
          <a:ln cap="flat" cmpd="sng" w="127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1170432" y="2514600"/>
            <a:ext cx="502920" cy="502920"/>
          </a:xfrm>
          <a:prstGeom prst="ellipse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548640" y="1234440"/>
            <a:ext cx="3657600" cy="1280160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731520" y="134416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2026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2286000" y="13716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STABILIZE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TZS 250M (~$100K)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731520" y="21031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25K packets   ·   Tanzania + SA pilot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640080" y="3063240"/>
            <a:ext cx="201168" cy="201168"/>
          </a:xfrm>
          <a:prstGeom prst="ellipse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914400" y="30175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Fix distribution → M-Pesa COD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640080" y="3730752"/>
            <a:ext cx="201168" cy="201168"/>
          </a:xfrm>
          <a:prstGeom prst="ellipse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914400" y="368503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Secure $250K grant stack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640080" y="4398264"/>
            <a:ext cx="201168" cy="201168"/>
          </a:xfrm>
          <a:prstGeom prst="ellipse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914400" y="4352544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Launch digital marketing (TikTok, bulk SMS)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40080" y="5065776"/>
            <a:ext cx="201168" cy="201168"/>
          </a:xfrm>
          <a:prstGeom prst="ellipse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914400" y="502005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Pilot 1,000 Ambassador network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640080" y="5733288"/>
            <a:ext cx="201168" cy="201168"/>
          </a:xfrm>
          <a:prstGeom prst="ellipse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914400" y="568756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Rebuild to 1,000+ active customers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5285232" y="2514600"/>
            <a:ext cx="502920" cy="502920"/>
          </a:xfrm>
          <a:prstGeom prst="ellipse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4114800" y="1234440"/>
            <a:ext cx="3657600" cy="128016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4297680" y="134416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2027–28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5852160" y="13716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EXPAND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4297680" y="1828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TZS 1.0B (~$400K)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4297680" y="21031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50K packets   ·   4 countries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4206240" y="3063240"/>
            <a:ext cx="201168" cy="201168"/>
          </a:xfrm>
          <a:prstGeom prst="ellipse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4480560" y="30175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Enter South Africa via corporate retail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4206240" y="3730752"/>
            <a:ext cx="201168" cy="201168"/>
          </a:xfrm>
          <a:prstGeom prst="ellipse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480560" y="368503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Close $400K impact-equity round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206240" y="4398264"/>
            <a:ext cx="201168" cy="201168"/>
          </a:xfrm>
          <a:prstGeom prst="ellipse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4480560" y="4352544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Launch Kenya + Malawi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4206240" y="5065776"/>
            <a:ext cx="201168" cy="201168"/>
          </a:xfrm>
          <a:prstGeom prst="ellipse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4480560" y="502005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Local assembly for reusables begins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4206240" y="5733288"/>
            <a:ext cx="201168" cy="201168"/>
          </a:xfrm>
          <a:prstGeom prst="ellipse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4480560" y="568756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Hedhi Salama → 50 schools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9400032" y="2514600"/>
            <a:ext cx="502920" cy="502920"/>
          </a:xfrm>
          <a:prstGeom prst="ellipse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7680960" y="1234440"/>
            <a:ext cx="3657600" cy="1280160"/>
          </a:xfrm>
          <a:prstGeom prst="rect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72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7863840" y="134416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2028–29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9418320" y="13716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SCALE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7863840" y="1828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TZS 1.75B (~$700K)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7863840" y="21031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100K+ packets   ·   6 countries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7772400" y="3063240"/>
            <a:ext cx="201168" cy="201168"/>
          </a:xfrm>
          <a:prstGeom prst="ellipse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8046720" y="30175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Manufacturing consortium formed (Tanzania)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7772400" y="3730752"/>
            <a:ext cx="201168" cy="201168"/>
          </a:xfrm>
          <a:prstGeom prst="ellipse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8046720" y="368503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DRC + Zambia entry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7772400" y="4398264"/>
            <a:ext cx="201168" cy="201168"/>
          </a:xfrm>
          <a:prstGeom prst="ellipse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8046720" y="4352544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25,000+ mobile-money subscribers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7772400" y="5065776"/>
            <a:ext cx="201168" cy="201168"/>
          </a:xfrm>
          <a:prstGeom prst="ellipse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8046720" y="502005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AfCFTA regional hub certified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1E30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9A85C"/>
          </a:solidFill>
          <a:ln cap="flat" cmpd="sng" w="127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6400800" y="-1828800"/>
            <a:ext cx="7772400" cy="7772400"/>
          </a:xfrm>
          <a:prstGeom prst="ellipse">
            <a:avLst/>
          </a:prstGeom>
          <a:solidFill>
            <a:srgbClr val="6D2E46">
              <a:alpha val="45098"/>
            </a:srgbClr>
          </a:solidFill>
          <a:ln cap="flat" cmpd="sng" w="12700">
            <a:solidFill>
              <a:srgbClr val="6D2E4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822960" y="457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THE CASE FOR KASOLE SECRETS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822960" y="8686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2200"/>
              <a:buFont typeface="Georgia"/>
              <a:buNone/>
            </a:pPr>
            <a:r>
              <a:rPr i="1" lang="en-US" sz="2200">
                <a:solidFill>
                  <a:srgbClr val="F5ECE0"/>
                </a:solidFill>
                <a:latin typeface="Georgia"/>
                <a:ea typeface="Georgia"/>
                <a:cs typeface="Georgia"/>
                <a:sym typeface="Georgia"/>
              </a:rPr>
              <a:t>Commercial viability meets an unshakeable mission.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822960" y="1554480"/>
            <a:ext cx="5349240" cy="3474720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1005840" y="166420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COMMERCIAL IMPACT  ·  2028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1005840" y="2103120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7×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2331720" y="221284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revenue growth vs. 2024 (TZS 110M → 1.75B)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1005840" y="2852928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100K+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2331720" y="296265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Glory Pads packets sold annually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1005840" y="3602736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2331720" y="371246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countries active via regional expansion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1005840" y="4352544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≥50%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2331720" y="44622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gross margin preserved throughout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6400800" y="1554480"/>
            <a:ext cx="5349240" cy="347472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6583680" y="166420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SOCIAL IMPACT  ·  2028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6583680" y="2103120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500K+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7909560" y="221284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women and girls served (products + education)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6583680" y="2852928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100+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7909560" y="296265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schools reached by Hedhi Salama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6583680" y="3602736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50+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7909560" y="371246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jobs created (AFRIpads-validated curve)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6583680" y="4352544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10%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7909560" y="44622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CE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5ECE0"/>
                </a:solidFill>
                <a:latin typeface="Calibri"/>
                <a:ea typeface="Calibri"/>
                <a:cs typeface="Calibri"/>
                <a:sym typeface="Calibri"/>
              </a:rPr>
              <a:t>of every sale reinvested in the social mission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" name="Google Shape;434;p10"/>
          <p:cNvCxnSpPr/>
          <p:nvPr/>
        </p:nvCxnSpPr>
        <p:spPr>
          <a:xfrm>
            <a:off x="822960" y="5257800"/>
            <a:ext cx="2286000" cy="0"/>
          </a:xfrm>
          <a:prstGeom prst="straightConnector1">
            <a:avLst/>
          </a:prstGeom>
          <a:noFill/>
          <a:ln cap="flat" cmpd="sng" w="25400">
            <a:solidFill>
              <a:srgbClr val="C9A8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5" name="Google Shape;435;p10"/>
          <p:cNvSpPr/>
          <p:nvPr/>
        </p:nvSpPr>
        <p:spPr>
          <a:xfrm>
            <a:off x="822960" y="5486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Kasole Secrets doesn't need a new business model.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822960" y="5925312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C9A85C"/>
                </a:solidFill>
                <a:latin typeface="Georgia"/>
                <a:ea typeface="Georgia"/>
                <a:cs typeface="Georgia"/>
                <a:sym typeface="Georgia"/>
              </a:rPr>
              <a:t>It needs to reclaim the one that worked — and build the infrastructure to never lose it again.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2026-04-19T12:57:05Z</dcterms:created>
  <dc:creator>PptxGenJS</dc:creator>
</cp:coreProperties>
</file>